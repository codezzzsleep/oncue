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OnCue 是一个群聊排练工具：在群里开口之前，先私下把要说的话试映一次。整套流程分四段：读群、试映、上映、反响。下面五分钟依次讲创意、Agentic 闭环、可信与验证，以及我们对 OctoSense 的贡献。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整份说明分五部分：先讲背景和要解决的问题，再讲我们的解决方案，然后用真实运行和测试证明它有效，接着讲我们给 OctoSense 生态留下的贡献，最后一页总结。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第一部分：背景与问题。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背景有两面。用户这一面：群聊是协作的主场，最难开口的是三种时刻，澄清条件、礼貌拒绝、推动下一步，例句都来自我们的真实测试。平台这一面：OctoSense 上的 Rinx 小程序，经用户授权后能读群、能调用宿主配置的助手、能在用户确认后发消息。两面合起来，就是一个机会：让 Agent 在真实群聊里帮人把这句话说好。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但如果直接让 AI 替人说话，会出三类问题。第一是编造：模型会写出群里没人说过的数字和承诺，我们在真实测试中就遇到了凭空出现的「4 人」。第二是越权：没确认就发，发送结果不确定时贸然重发，或者群里已经有新消息了还照发旧稿。第三是断环：发出去就结束，不知道群里怎么回。所以我们要解决的问题是：让 Agent 帮人把一句话说好，同时不编造、不越权、能闭环。后面的方案、验证都围绕这三点展开。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第二部分：解决方案。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核心思路，是把一次发言当成一场电影试映，分四个阶段。读群：勾选要参考的群消息，保留原编号，让每句话都能追溯。试映：助手写出三种说法，给每种配上群友可能怎么回的假设对白，并推荐一句；没有出处的数字和承诺会被拒绝，这对应问题一。上映：你核对房间和全文，两步确认后才发，发后读回，这对应问题二。反响：读回真实回复，和试映时的假设对照，给出下一句，这对应问题三，形成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针对前面的三个问题，OnCue 设了三道把关，原则是：助手只负责措辞，事实由程序核对，关键决定留给人。不编造：只引用勾选的消息并逐条核对；数字、中文数字和承诺句式在来源里找不到就拒绝；不合格时把原因告诉助手，自动重试一次。不越权：用户只做三次决定；发送前再读一次，群里有新消息就让旧候选作废；发送后读回核实，结果不确定时从不自动重发。能闭环：发出后的回复按原话列出，助手对照试映时的假设给出下一句，下一句同样要过检查；没有回复就如实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这是一次真实运行里的完整闭环，四张都是真机截图。Agent 自动完成的部分：打开就读群；一次点击完成允许和试映，并在核对群里没有新消息后，把推荐句放进草稿框；发送后自动读回，确认群里真的有这条；看反响时自动重读群聊，没有人回复就如实说。人只做三次决定：允许发给助手、应用修订、确认发送。当天下午，我们又在官方 Rinx c515e5fc、零本地补丁的环境里复验了同一闭环。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第三部分：实现与验证。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方案有没有用，要看真实运行。在真实 Rinx、真实模型的一次运行里，三道把关都起了作用。问题一：模型写出了来源和台词里都没有的「4 人」，被数字核对规则拒绝，没有进草稿，再试一次通过后推荐句才进草稿框。问题二：发送前又读了一次群，两步确认后发出 1 条，读回时在群里看到了这条，才显示已发到。问题三：看反响时群里还没有人回复，OnCue 如实说没有，不调用助手去编。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一次真实运行不够，所以每改一次代码都全部重跑。界面场景 62 个、67 次运行，覆盖两种窗口尺寸，宿主的每一种回复和错误都由场景注入。逻辑测试 12 套、400 多项断言，在真实的 card-host 虚拟机里直接跑生产函数。真机上，四种授权状态在官方 Rinx 上实拍，完整闭环在官方 Rinx c515e5fc、零本地补丁的环境里复验。为适配最新运行时，我们还按单次回调的指令上限，把消息窗口比对改成了线性复杂度。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初赛我们拿了 82 分，评审给了四条建议，这一轮全部落实。拒绝授权和授权到期：在官方 Rinx 上实拍了四种授权状态，到期做了约一小时的实测，界面场景兜底。防编造：数字检查覆盖中文数字、半天和复合单位，承诺句式逐句检查。应用包移到了仓库根目录。发布改用 GitHub 工作流，版本升到 0.5.3。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第四部分：我们对 OctoSense 生态的贡献。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第一项贡献是 splash-app-verify 测试技能。痛点是：开发 Splash 应用时，card-host 里没有真实的宿主服务，授权过期、限流、发送超时这些情况造不出来，失败路径没法复现。我们的做法是先写界面契约和场景再写代码，让假宿主按场景回复，每次修改后全量重跑，失败时写出一份修复请求，模型或人可以逐条修。效果是：它在 OnCue 交付前抓到了 5 个真 bug；技能本身经过 4 轮外部审查和模糊测试，已作为 PR #192 提交给 OctoSense App Flow，任何 Splash 脚本应用都能用。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第二项贡献，是我们在真实宿主上找到并复现的两个问题。Rinx 的小程序导入表单读错了房间号：代码里的选择器先命中了内置下拉框中同名的隐藏输入框，应用就以没有房间的状态启动。我们整理了复现和修复；上游 1.2.0 已修复同一问题，所以 OnCue 现在直接跑在官方 Rinx 上，不需要本地补丁。另一个在 Palpo：开了密钥备份的账号，在新房间里邀请任何人都会失败，因为 Palpo 对没有备份的房间返回 404，而规范要求返回 200。最小复现已经写进验证记录。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最后用一页收回。问题：AI 直接替人说话会编造、会越权、发完就断。方案：把发言当成试映，分读群、试映、上映、反响四个阶段，加三道把关，助手写措辞，程序核对事实，人做决定。验证：真实模型上三道把关都起了作用，67 次界面场景运行和 12 套逻辑测试全部通过。贡献：测试技能 PR #192，任何 Splash 应用都能用；以及 Rinx、Palpo 两份宿主问题复现。下一步是在最新 Rinx 1.3.0 上复验、打 tag 发布、更新 App Hub 提交。还没验证的是第二个真人账号的现场演示、其他平台和商店安装。谢谢。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0118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B242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92238"/>
            <a:ext cx="10566400" cy="4152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0118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B242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92238"/>
            <a:ext cx="10566400" cy="4152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51025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00" kern="0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GOSIM 智能体应用黑客松 2026 · 复赛作品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353932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F1EEE4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OnCue · 群聊试映室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446132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1EE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在群里开口之前，先在这里试一下。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091252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运行在 OctoSense 上的 Rinx 小程序 · 版本 0.5.3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4631002"/>
            <a:ext cx="711200" cy="375907"/>
          </a:xfrm>
          <a:prstGeom prst="roundRect">
            <a:avLst>
              <a:gd name="adj" fmla="val 50000"/>
            </a:avLst>
          </a:prstGeom>
          <a:solidFill>
            <a:srgbClr val="E3A2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读群</a:t>
            </a:r>
            <a:endParaRPr lang="en-US" sz="14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25600" y="4749073"/>
            <a:ext cx="279400" cy="139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06600" y="4631002"/>
            <a:ext cx="711200" cy="375907"/>
          </a:xfrm>
          <a:prstGeom prst="roundRect">
            <a:avLst>
              <a:gd name="adj" fmla="val 50000"/>
            </a:avLst>
          </a:prstGeom>
          <a:solidFill>
            <a:srgbClr val="E3A2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试映</a:t>
            </a:r>
            <a:endParaRPr lang="en-US" sz="1400" dirty="0"/>
          </a:p>
        </p:txBody>
      </p:sp>
      <p:pic>
        <p:nvPicPr>
          <p:cNvPr id="9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19400" y="4749073"/>
            <a:ext cx="279400" cy="1397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0" y="4631002"/>
            <a:ext cx="711200" cy="375907"/>
          </a:xfrm>
          <a:prstGeom prst="roundRect">
            <a:avLst>
              <a:gd name="adj" fmla="val 50000"/>
            </a:avLst>
          </a:prstGeom>
          <a:solidFill>
            <a:srgbClr val="E3A2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上映</a:t>
            </a:r>
            <a:endParaRPr lang="en-US" sz="1400" dirty="0"/>
          </a:p>
        </p:txBody>
      </p:sp>
      <p:pic>
        <p:nvPicPr>
          <p:cNvPr id="11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13200" y="4749073"/>
            <a:ext cx="279400" cy="1397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94200" y="4631002"/>
            <a:ext cx="711200" cy="375907"/>
          </a:xfrm>
          <a:prstGeom prst="roundRect">
            <a:avLst>
              <a:gd name="adj" fmla="val 50000"/>
            </a:avLst>
          </a:prstGeom>
          <a:solidFill>
            <a:srgbClr val="E3A2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反响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源码 github.com/codezzzsleep/OnCue · 测试技能 OctoSense App Flow PR #192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88095"/>
            <a:ext cx="10566400" cy="0"/>
          </a:xfrm>
          <a:prstGeom prst="line">
            <a:avLst/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1766954"/>
            <a:ext cx="812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1784681"/>
            <a:ext cx="2354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背景与问题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68800" y="1829131"/>
            <a:ext cx="72207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群聊里最难开口的时刻，和 AI 直接代笔会出的问题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339049"/>
            <a:ext cx="10566400" cy="0"/>
          </a:xfrm>
          <a:prstGeom prst="line">
            <a:avLst/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517908"/>
            <a:ext cx="812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28800" y="2535634"/>
            <a:ext cx="2354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解决方案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68800" y="2580084"/>
            <a:ext cx="72207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把一次发言当成一场试映：读群、试映、上映、反响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3090003"/>
            <a:ext cx="10566400" cy="0"/>
          </a:xfrm>
          <a:prstGeom prst="line">
            <a:avLst/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3268861"/>
            <a:ext cx="812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828800" y="3286589"/>
            <a:ext cx="2354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实现与验证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68800" y="3331039"/>
            <a:ext cx="72207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真实模型上的表现，和每改一次就全部重跑的测试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3840956"/>
            <a:ext cx="10566400" cy="0"/>
          </a:xfrm>
          <a:prstGeom prst="line">
            <a:avLst/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800" y="4019815"/>
            <a:ext cx="812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828800" y="4037542"/>
            <a:ext cx="2354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我们的贡献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68800" y="4081992"/>
            <a:ext cx="72207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留给 OctoSense 生态的测试技能，和两份宿主问题复现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4591910"/>
            <a:ext cx="10566400" cy="0"/>
          </a:xfrm>
          <a:prstGeom prst="line">
            <a:avLst/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800" y="5340747"/>
            <a:ext cx="10566400" cy="0"/>
          </a:xfrm>
          <a:prstGeom prst="line">
            <a:avLst/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4770768"/>
            <a:ext cx="812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828800" y="4788495"/>
            <a:ext cx="2354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总结与下一步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368800" y="4832945"/>
            <a:ext cx="72207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问题、方案、验证、贡献，一页收回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2200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OnCue · 群聊试映室 0.5.3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243800" y="6238280"/>
            <a:ext cx="1354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29487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E3A23B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01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502687"/>
            <a:ext cx="10883392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1EEE4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背景与问题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320515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群聊里的一句话为什么难说，让 AI 直接代笔又会出什么问题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1717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背景与问题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94045" y="6238280"/>
            <a:ext cx="9755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解决方案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11777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实现与验证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1909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我们的贡献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52042" y="6238280"/>
            <a:ext cx="13412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总结与下一步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背景与问题 · 背景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5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群聊是协作的主场，关键时刻一句话最难说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44610"/>
            <a:ext cx="5175250" cy="2708473"/>
          </a:xfrm>
          <a:prstGeom prst="roundRect">
            <a:avLst>
              <a:gd name="adj" fmla="val 4572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099667"/>
            <a:ext cx="480508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用户的处境：三种最难开口的时刻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1033" y="2475574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澄清条件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1033" y="2767674"/>
            <a:ext cx="48050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「那我们中午出发、当天回来，先确认预算可以吗？」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1033" y="3116924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礼貌拒绝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1033" y="3409024"/>
            <a:ext cx="48050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「这次我不参加，你们继续。」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1033" y="3758274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推动下一步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1033" y="4050374"/>
            <a:ext cx="48050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「你们先定行程，定好了发群里，订票时再找我确认。」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00775" y="1844610"/>
            <a:ext cx="5175250" cy="2708473"/>
          </a:xfrm>
          <a:prstGeom prst="roundRect">
            <a:avLst>
              <a:gd name="adj" fmla="val 4572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833" y="2099667"/>
            <a:ext cx="480508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平台的契机：OctoSense 上的 Rinx 小程序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5833" y="2475574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读得到群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55833" y="2767674"/>
            <a:ext cx="48050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经用户授权，读取所选群聊的最近消息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55833" y="3116924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请得动助手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55833" y="3409024"/>
            <a:ext cx="48050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调用宿主配置好的助手模型，应用自己不持有密钥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55833" y="3758274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发得出去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55833" y="4050374"/>
            <a:ext cx="48050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用户确认后，把草稿原样发到这个群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4810258"/>
            <a:ext cx="10566400" cy="589227"/>
          </a:xfrm>
          <a:prstGeom prst="roundRect">
            <a:avLst>
              <a:gd name="adj" fmla="val 17243"/>
            </a:avLst>
          </a:prstGeom>
          <a:solidFill>
            <a:srgbClr val="1F6B4A"/>
          </a:solidFill>
          <a:ln/>
        </p:spPr>
        <p:txBody>
          <a:bodyPr wrap="square" lIns="224242" tIns="122642" rIns="0" bIns="972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1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机会：让一个 Agent 在真实群聊里，帮人把这句话说好。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2200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OnCue · 群聊试映室 0.5.3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43800" y="6238280"/>
            <a:ext cx="1354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背景与问题 · 问题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5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但让 AI 直接替人说话，会出三类问题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70010"/>
            <a:ext cx="3380317" cy="2120305"/>
          </a:xfrm>
          <a:prstGeom prst="roundRect">
            <a:avLst>
              <a:gd name="adj" fmla="val 5840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125067"/>
            <a:ext cx="295630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5A1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1033" y="2475576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1033" y="2881976"/>
            <a:ext cx="295630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写出群里没人说过的数字和承诺。我们的真实测试里，模型就写出了来源中不存在的「4 人」。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42" y="1870010"/>
            <a:ext cx="3380317" cy="2120305"/>
          </a:xfrm>
          <a:prstGeom prst="roundRect">
            <a:avLst>
              <a:gd name="adj" fmla="val 5840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0900" y="2125067"/>
            <a:ext cx="295630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5A1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0900" y="2475576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越权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0900" y="2881976"/>
            <a:ext cx="295630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没确认就发；发送结果不确定时贸然重发；群里已经有了新消息，还照发旧稿。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709" y="1870010"/>
            <a:ext cx="3380317" cy="2120305"/>
          </a:xfrm>
          <a:prstGeom prst="roundRect">
            <a:avLst>
              <a:gd name="adj" fmla="val 5840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0767" y="2125067"/>
            <a:ext cx="295630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5A1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50767" y="2475576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断环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50767" y="2881976"/>
            <a:ext cx="2956306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发出去就结束了：不知道群里怎么回，下一句只能靠猜。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272890"/>
            <a:ext cx="10566400" cy="589227"/>
          </a:xfrm>
          <a:prstGeom prst="roundRect">
            <a:avLst>
              <a:gd name="adj" fmla="val 17243"/>
            </a:avLst>
          </a:prstGeom>
          <a:solidFill>
            <a:srgbClr val="1F6B4A"/>
          </a:solidFill>
          <a:ln/>
        </p:spPr>
        <p:txBody>
          <a:bodyPr wrap="square" lIns="224242" tIns="122642" rIns="0" bIns="972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1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要解决的问题：让 Agent 帮人把一句话说好，同时不编造、不越权、能闭环。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2200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OnCue · 群聊试映室 0.5.3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43800" y="6238280"/>
            <a:ext cx="1354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29489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E3A23B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02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502689"/>
            <a:ext cx="10883392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1EEE4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解决方案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320515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把一次发言当成一场试映：繁琐的事交给 Agent，关键的决定留给人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背景与问题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82932" y="6238280"/>
            <a:ext cx="9888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解决方案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11777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实现与验证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1909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我们的贡献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52042" y="6238280"/>
            <a:ext cx="13412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总结与下一步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解决方案 · 核心思路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5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1EEE4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把一次发言，当成一场试映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43035"/>
            <a:ext cx="2298700" cy="2350757"/>
          </a:xfrm>
          <a:prstGeom prst="roundRect">
            <a:avLst>
              <a:gd name="adj" fmla="val 5525"/>
            </a:avLst>
          </a:prstGeom>
          <a:solidFill>
            <a:srgbClr val="1E2E26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71635"/>
            <a:ext cx="780322" cy="325107"/>
          </a:xfrm>
          <a:custGeom>
            <a:avLst/>
            <a:gdLst/>
            <a:ahLst/>
            <a:cxnLst/>
            <a:rect l="l" t="t" r="r" b="b"/>
            <a:pathLst>
              <a:path w="780322" h="325107">
                <a:moveTo>
                  <a:pt x="162553" y="0"/>
                </a:moveTo>
                <a:lnTo>
                  <a:pt x="617769" y="0"/>
                </a:lnTo>
                <a:arcTo hR="162553" wR="162553" stAng="16200000" swAng="5400000"/>
                <a:lnTo>
                  <a:pt x="780322" y="162553"/>
                </a:lnTo>
                <a:arcTo hR="162553" wR="162553" stAng="0" swAng="5400000"/>
                <a:lnTo>
                  <a:pt x="162553" y="325107"/>
                </a:lnTo>
                <a:arcTo hR="162553" wR="162553" stAng="5400000" swAng="5400000"/>
                <a:lnTo>
                  <a:pt x="0" y="162553"/>
                </a:lnTo>
                <a:arcTo hR="162553" wR="162553" stAng="10800000" swAng="5400000"/>
                <a:close/>
              </a:path>
            </a:pathLst>
          </a:custGeom>
          <a:solidFill>
            <a:srgbClr val="E3A2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读群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1400" y="2623741"/>
            <a:ext cx="1896745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勾选这次要参考的群消息，保留原编号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3322241"/>
            <a:ext cx="189674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每句话都能追溯到原消息</a:t>
            </a:r>
            <a:endParaRPr lang="en-US" sz="12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13100" y="3054880"/>
            <a:ext cx="254000" cy="127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68700" y="1943035"/>
            <a:ext cx="2298700" cy="2350757"/>
          </a:xfrm>
          <a:prstGeom prst="roundRect">
            <a:avLst>
              <a:gd name="adj" fmla="val 5525"/>
            </a:avLst>
          </a:prstGeom>
          <a:solidFill>
            <a:srgbClr val="1E2E26"/>
          </a:solidFill>
          <a:ln/>
        </p:spPr>
      </p:sp>
      <p:sp>
        <p:nvSpPr>
          <p:cNvPr id="10" name="Text 7"/>
          <p:cNvSpPr/>
          <p:nvPr/>
        </p:nvSpPr>
        <p:spPr>
          <a:xfrm>
            <a:off x="3797300" y="2171635"/>
            <a:ext cx="780322" cy="325107"/>
          </a:xfrm>
          <a:custGeom>
            <a:avLst/>
            <a:gdLst/>
            <a:ahLst/>
            <a:cxnLst/>
            <a:rect l="l" t="t" r="r" b="b"/>
            <a:pathLst>
              <a:path w="780322" h="325107">
                <a:moveTo>
                  <a:pt x="162553" y="0"/>
                </a:moveTo>
                <a:lnTo>
                  <a:pt x="617769" y="0"/>
                </a:lnTo>
                <a:arcTo hR="162553" wR="162553" stAng="16200000" swAng="5400000"/>
                <a:lnTo>
                  <a:pt x="780322" y="162553"/>
                </a:lnTo>
                <a:arcTo hR="162553" wR="162553" stAng="0" swAng="5400000"/>
                <a:lnTo>
                  <a:pt x="162553" y="325107"/>
                </a:lnTo>
                <a:arcTo hR="162553" wR="162553" stAng="5400000" swAng="5400000"/>
                <a:lnTo>
                  <a:pt x="0" y="162553"/>
                </a:lnTo>
                <a:arcTo hR="162553" wR="162553" stAng="10800000" swAng="5400000"/>
                <a:close/>
              </a:path>
            </a:pathLst>
          </a:custGeom>
          <a:solidFill>
            <a:srgbClr val="E3A2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试映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797300" y="2623741"/>
            <a:ext cx="1896745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助手写出三种说法，配上假设对白，推荐一句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797300" y="3607991"/>
            <a:ext cx="189674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对应问题一：没有出处就拒绝</a:t>
            </a:r>
            <a:endParaRPr lang="en-US" sz="12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0" y="3054880"/>
            <a:ext cx="254000" cy="127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24600" y="1943035"/>
            <a:ext cx="2298700" cy="2350757"/>
          </a:xfrm>
          <a:prstGeom prst="roundRect">
            <a:avLst>
              <a:gd name="adj" fmla="val 5525"/>
            </a:avLst>
          </a:prstGeom>
          <a:solidFill>
            <a:srgbClr val="1E2E26"/>
          </a:solidFill>
          <a:ln/>
        </p:spPr>
      </p:sp>
      <p:sp>
        <p:nvSpPr>
          <p:cNvPr id="15" name="Text 11"/>
          <p:cNvSpPr/>
          <p:nvPr/>
        </p:nvSpPr>
        <p:spPr>
          <a:xfrm>
            <a:off x="6553200" y="2171635"/>
            <a:ext cx="780322" cy="325107"/>
          </a:xfrm>
          <a:custGeom>
            <a:avLst/>
            <a:gdLst/>
            <a:ahLst/>
            <a:cxnLst/>
            <a:rect l="l" t="t" r="r" b="b"/>
            <a:pathLst>
              <a:path w="780322" h="325107">
                <a:moveTo>
                  <a:pt x="162553" y="0"/>
                </a:moveTo>
                <a:lnTo>
                  <a:pt x="617769" y="0"/>
                </a:lnTo>
                <a:arcTo hR="162553" wR="162553" stAng="16200000" swAng="5400000"/>
                <a:lnTo>
                  <a:pt x="780322" y="162553"/>
                </a:lnTo>
                <a:arcTo hR="162553" wR="162553" stAng="0" swAng="5400000"/>
                <a:lnTo>
                  <a:pt x="162553" y="325107"/>
                </a:lnTo>
                <a:arcTo hR="162553" wR="162553" stAng="5400000" swAng="5400000"/>
                <a:lnTo>
                  <a:pt x="0" y="162553"/>
                </a:lnTo>
                <a:arcTo hR="162553" wR="162553" stAng="10800000" swAng="5400000"/>
                <a:close/>
              </a:path>
            </a:pathLst>
          </a:custGeom>
          <a:solidFill>
            <a:srgbClr val="E3A2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上映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53200" y="2623741"/>
            <a:ext cx="1896745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你核对房间和全文，确认后才发到群里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553200" y="3322241"/>
            <a:ext cx="189674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对应问题二：两步确认，发后读回</a:t>
            </a:r>
            <a:endParaRPr lang="en-US" sz="12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24900" y="3054880"/>
            <a:ext cx="254000" cy="127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80500" y="1943035"/>
            <a:ext cx="2298700" cy="2350757"/>
          </a:xfrm>
          <a:prstGeom prst="roundRect">
            <a:avLst>
              <a:gd name="adj" fmla="val 5525"/>
            </a:avLst>
          </a:prstGeom>
          <a:solidFill>
            <a:srgbClr val="1E2E26"/>
          </a:solidFill>
          <a:ln/>
        </p:spPr>
      </p:sp>
      <p:sp>
        <p:nvSpPr>
          <p:cNvPr id="20" name="Text 15"/>
          <p:cNvSpPr/>
          <p:nvPr/>
        </p:nvSpPr>
        <p:spPr>
          <a:xfrm>
            <a:off x="9309100" y="2171635"/>
            <a:ext cx="780322" cy="325107"/>
          </a:xfrm>
          <a:custGeom>
            <a:avLst/>
            <a:gdLst/>
            <a:ahLst/>
            <a:cxnLst/>
            <a:rect l="l" t="t" r="r" b="b"/>
            <a:pathLst>
              <a:path w="780322" h="325107">
                <a:moveTo>
                  <a:pt x="162553" y="0"/>
                </a:moveTo>
                <a:lnTo>
                  <a:pt x="617769" y="0"/>
                </a:lnTo>
                <a:arcTo hR="162553" wR="162553" stAng="16200000" swAng="5400000"/>
                <a:lnTo>
                  <a:pt x="780322" y="162553"/>
                </a:lnTo>
                <a:arcTo hR="162553" wR="162553" stAng="0" swAng="5400000"/>
                <a:lnTo>
                  <a:pt x="162553" y="325107"/>
                </a:lnTo>
                <a:arcTo hR="162553" wR="162553" stAng="5400000" swAng="5400000"/>
                <a:lnTo>
                  <a:pt x="0" y="162553"/>
                </a:lnTo>
                <a:arcTo hR="162553" wR="162553" stAng="10800000" swAng="5400000"/>
                <a:close/>
              </a:path>
            </a:pathLst>
          </a:custGeom>
          <a:solidFill>
            <a:srgbClr val="E3A2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反响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9309100" y="2623741"/>
            <a:ext cx="1896745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读回真实回复，和试映时的假设对照，给出下一句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9309100" y="3607991"/>
            <a:ext cx="189674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对应问题三：形成闭环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12800" y="4649391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假设对白只用来比较说法，不当作预测；真正的反响，等群里的人自己回答。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12800" y="6238280"/>
            <a:ext cx="2200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OnCue · 群聊试映室 0.5.3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1243800" y="6238280"/>
            <a:ext cx="1354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解决方案 · 三道把关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5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三个问题，三道把关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41435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原则：助手只负责措辞，事实由程序核对，关键的决定留给人。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2384360"/>
            <a:ext cx="3380317" cy="2704637"/>
          </a:xfrm>
          <a:prstGeom prst="roundRect">
            <a:avLst>
              <a:gd name="adj" fmla="val 4578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033" y="2639417"/>
            <a:ext cx="295630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1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对应问题一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1033" y="2972132"/>
            <a:ext cx="295630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不编造：程序核对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677" y="3348038"/>
            <a:ext cx="2876042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只引用你勾选的消息，逐条核对编号与原文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数字、中文数字、承诺句式：来源里没有就拒绝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不合格时把原因告诉助手，自动重试一次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5842" y="2384360"/>
            <a:ext cx="3380317" cy="2704637"/>
          </a:xfrm>
          <a:prstGeom prst="roundRect">
            <a:avLst>
              <a:gd name="adj" fmla="val 4578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0900" y="2639417"/>
            <a:ext cx="295630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1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对应问题二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0900" y="2972132"/>
            <a:ext cx="295630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不越权：人来决定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33544" y="3348038"/>
            <a:ext cx="2876042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三次决定：允许发给助手、应用修订、确认发送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发送前再读一次，群里有新消息，旧候选作废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发送后读回核实，结果不确定时从不自动重发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95709" y="2384360"/>
            <a:ext cx="3380317" cy="2704637"/>
          </a:xfrm>
          <a:prstGeom prst="roundRect">
            <a:avLst>
              <a:gd name="adj" fmla="val 4578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0767" y="2639417"/>
            <a:ext cx="295630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1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对应问题三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50767" y="2972132"/>
            <a:ext cx="295630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能闭环：对照反响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3411" y="3348038"/>
            <a:ext cx="2876042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发出后的回复按原话列出，不经助手改写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助手对照试映时的假设，给出下一句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下一句同样要过检查；没有回复就如实说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2200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OnCue · 群聊试映室 0.5.3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43800" y="6238280"/>
            <a:ext cx="1354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解决方案 · Agent 闭环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8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Agent 自动串起四个阶段，人只做决定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90638"/>
            <a:ext cx="54416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 读群 · 打开即自动载入</a:t>
            </a:r>
            <a:endParaRPr lang="en-US" sz="1500" dirty="0"/>
          </a:p>
        </p:txBody>
      </p:sp>
      <p:pic>
        <p:nvPicPr>
          <p:cNvPr id="5" name="Image 0" descr="真实 Rinx 中的 OnCue：打开后自动载入群聊，状态为「原消息已载入，共 12 条」">    </p:cNvPr>
          <p:cNvPicPr>
            <a:picLocks noChangeAspect="1"/>
          </p:cNvPicPr>
          <p:nvPr/>
        </p:nvPicPr>
        <p:blipFill>
          <a:blip r:embed="rId1"/>
          <a:srcRect l="0" r="0" t="21541" b="26327"/>
          <a:stretch/>
        </p:blipFill>
        <p:spPr>
          <a:xfrm>
            <a:off x="819150" y="2127188"/>
            <a:ext cx="4051300" cy="1352550"/>
          </a:xfrm>
          <a:prstGeom prst="roundRect">
            <a:avLst>
              <a:gd name="adj" fmla="val 5164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2124013"/>
            <a:ext cx="4057650" cy="1358900"/>
          </a:xfrm>
          <a:prstGeom prst="roundRect">
            <a:avLst>
              <a:gd name="adj" fmla="val 5374"/>
            </a:avLst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3549588"/>
            <a:ext cx="544169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「原消息已载入，共 12 条。」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96000" y="1790638"/>
            <a:ext cx="54416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② 试映 · 一键试映，推荐句自动进草稿</a:t>
            </a:r>
            <a:endParaRPr lang="en-US" sz="1500" dirty="0"/>
          </a:p>
        </p:txBody>
      </p:sp>
      <p:pic>
        <p:nvPicPr>
          <p:cNvPr id="9" name="Image 1" descr="真实 Rinx 中的 OnCue：三种说法完成，推荐 C 并自动放进草稿框">    </p:cNvPr>
          <p:cNvPicPr>
            <a:picLocks noChangeAspect="1"/>
          </p:cNvPicPr>
          <p:nvPr/>
        </p:nvPicPr>
        <p:blipFill>
          <a:blip r:embed="rId2"/>
          <a:srcRect l="0" r="0" t="21541" b="26327"/>
          <a:stretch/>
        </p:blipFill>
        <p:spPr>
          <a:xfrm>
            <a:off x="6102350" y="2127188"/>
            <a:ext cx="4051300" cy="1352550"/>
          </a:xfrm>
          <a:prstGeom prst="roundRect">
            <a:avLst>
              <a:gd name="adj" fmla="val 5164"/>
            </a:avLst>
          </a:prstGeom>
        </p:spPr>
      </p:pic>
      <p:sp>
        <p:nvSpPr>
          <p:cNvPr id="10" name="Shape 6"/>
          <p:cNvSpPr/>
          <p:nvPr/>
        </p:nvSpPr>
        <p:spPr>
          <a:xfrm>
            <a:off x="6099175" y="2124013"/>
            <a:ext cx="4057650" cy="1358900"/>
          </a:xfrm>
          <a:prstGeom prst="roundRect">
            <a:avLst>
              <a:gd name="adj" fmla="val 5374"/>
            </a:avLst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96000" y="3549588"/>
            <a:ext cx="544169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「三种说法好了。推荐 C ……；已放进草稿框。」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12800" y="3780699"/>
            <a:ext cx="54416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③ 上映 · 两步确认后发送，自动读回</a:t>
            </a:r>
            <a:endParaRPr lang="en-US" sz="1500" dirty="0"/>
          </a:p>
        </p:txBody>
      </p:sp>
      <p:pic>
        <p:nvPicPr>
          <p:cNvPr id="13" name="Image 2" descr="真实 Rinx 中的 OnCue：已发到测试房，读回时看到了这条">    </p:cNvPr>
          <p:cNvPicPr>
            <a:picLocks noChangeAspect="1"/>
          </p:cNvPicPr>
          <p:nvPr/>
        </p:nvPicPr>
        <p:blipFill>
          <a:blip r:embed="rId3"/>
          <a:srcRect l="0" r="0" t="21541" b="26327"/>
          <a:stretch/>
        </p:blipFill>
        <p:spPr>
          <a:xfrm>
            <a:off x="819150" y="4117249"/>
            <a:ext cx="4051300" cy="1352550"/>
          </a:xfrm>
          <a:prstGeom prst="roundRect">
            <a:avLst>
              <a:gd name="adj" fmla="val 5164"/>
            </a:avLst>
          </a:prstGeom>
        </p:spPr>
      </p:pic>
      <p:sp>
        <p:nvSpPr>
          <p:cNvPr id="14" name="Shape 9"/>
          <p:cNvSpPr/>
          <p:nvPr/>
        </p:nvSpPr>
        <p:spPr>
          <a:xfrm>
            <a:off x="815975" y="4114074"/>
            <a:ext cx="4057650" cy="1358900"/>
          </a:xfrm>
          <a:prstGeom prst="roundRect">
            <a:avLst>
              <a:gd name="adj" fmla="val 5374"/>
            </a:avLst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12800" y="5539649"/>
            <a:ext cx="544169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「已发到 OnCue 试映室测试房。刚才读回时看到了这条。」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096000" y="3780699"/>
            <a:ext cx="54416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④ 反响 · 自动重读群聊，不猜</a:t>
            </a:r>
            <a:endParaRPr lang="en-US" sz="1500" dirty="0"/>
          </a:p>
        </p:txBody>
      </p:sp>
      <p:pic>
        <p:nvPicPr>
          <p:cNvPr id="17" name="Image 3" descr="真实 Rinx 中的 OnCue：看反响显示发出以后还没有新回复，阶段条四段全部打勾">    </p:cNvPr>
          <p:cNvPicPr>
            <a:picLocks noChangeAspect="1"/>
          </p:cNvPicPr>
          <p:nvPr/>
        </p:nvPicPr>
        <p:blipFill>
          <a:blip r:embed="rId4"/>
          <a:srcRect l="0" r="0" t="21541" b="26327"/>
          <a:stretch/>
        </p:blipFill>
        <p:spPr>
          <a:xfrm>
            <a:off x="6102350" y="4117249"/>
            <a:ext cx="4051300" cy="1352550"/>
          </a:xfrm>
          <a:prstGeom prst="roundRect">
            <a:avLst>
              <a:gd name="adj" fmla="val 5164"/>
            </a:avLst>
          </a:prstGeom>
        </p:spPr>
      </p:pic>
      <p:sp>
        <p:nvSpPr>
          <p:cNvPr id="18" name="Shape 12"/>
          <p:cNvSpPr/>
          <p:nvPr/>
        </p:nvSpPr>
        <p:spPr>
          <a:xfrm>
            <a:off x="6099175" y="4114074"/>
            <a:ext cx="4057650" cy="1358900"/>
          </a:xfrm>
          <a:prstGeom prst="roundRect">
            <a:avLst>
              <a:gd name="adj" fmla="val 5374"/>
            </a:avLst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096000" y="5539649"/>
            <a:ext cx="544169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「发出以后还没有新回复。」阶段条四段全部打勾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80"/>
            <a:ext cx="61918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 Rinx + 真实模型（MiniMax），2026-10-11 · 证据 evidence/native-053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243800" y="6238280"/>
            <a:ext cx="1354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29489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E3A23B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03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502689"/>
            <a:ext cx="10883392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1EEE4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实现与验证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320518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在真实宿主、真实模型上跑通，并且每改一次就全部重跑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背景与问题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82932" y="6238280"/>
            <a:ext cx="9755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解决方案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665" y="6238280"/>
            <a:ext cx="11717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实现与验证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1909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我们的贡献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52042" y="6238280"/>
            <a:ext cx="13412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总结与下一步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实现与验证 · 真实运行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8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1EEE4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真实模型上，三道把关都起了作用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2238"/>
            <a:ext cx="3386667" cy="2549922"/>
          </a:xfrm>
          <a:prstGeom prst="roundRect">
            <a:avLst>
              <a:gd name="adj" fmla="val 3984"/>
            </a:avLst>
          </a:prstGeom>
          <a:solidFill>
            <a:srgbClr val="1E2E26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92238"/>
            <a:ext cx="3386667" cy="2549922"/>
          </a:xfrm>
          <a:custGeom>
            <a:avLst/>
            <a:gdLst/>
            <a:ahLst/>
            <a:cxnLst/>
            <a:rect l="l" t="t" r="r" b="b"/>
            <a:pathLst>
              <a:path w="3386667" h="2549922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67" y="0"/>
                </a:lnTo>
                <a:arcTo hR="101600" wR="101600" stAng="16200000" swAng="5400000"/>
                <a:lnTo>
                  <a:pt x="338666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3A23B"/>
          </a:solidFill>
          <a:ln/>
        </p:spPr>
      </p:sp>
      <p:sp>
        <p:nvSpPr>
          <p:cNvPr id="6" name="Text 4"/>
          <p:cNvSpPr/>
          <p:nvPr/>
        </p:nvSpPr>
        <p:spPr>
          <a:xfrm>
            <a:off x="1092200" y="2209738"/>
            <a:ext cx="291270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问题一 · 不编造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2200" y="2567849"/>
            <a:ext cx="291270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1EE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「4 人」被拒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2200" y="3025049"/>
            <a:ext cx="2912703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模型写出了来源和台词里都没有的「4 人」，被数字核对规则拒绝，没有进草稿；再试一次通过后，推荐句才进草稿框。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667" y="1892238"/>
            <a:ext cx="3386667" cy="2549922"/>
          </a:xfrm>
          <a:prstGeom prst="roundRect">
            <a:avLst>
              <a:gd name="adj" fmla="val 3984"/>
            </a:avLst>
          </a:prstGeom>
          <a:solidFill>
            <a:srgbClr val="1E2E26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667" y="1892238"/>
            <a:ext cx="3386667" cy="2549922"/>
          </a:xfrm>
          <a:custGeom>
            <a:avLst/>
            <a:gdLst/>
            <a:ahLst/>
            <a:cxnLst/>
            <a:rect l="l" t="t" r="r" b="b"/>
            <a:pathLst>
              <a:path w="3386667" h="2549922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67" y="0"/>
                </a:lnTo>
                <a:arcTo hR="101600" wR="101600" stAng="16200000" swAng="5400000"/>
                <a:lnTo>
                  <a:pt x="338666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3A23B"/>
          </a:solidFill>
          <a:ln/>
        </p:spPr>
      </p:sp>
      <p:sp>
        <p:nvSpPr>
          <p:cNvPr id="11" name="Text 9"/>
          <p:cNvSpPr/>
          <p:nvPr/>
        </p:nvSpPr>
        <p:spPr>
          <a:xfrm>
            <a:off x="4682067" y="2209738"/>
            <a:ext cx="291270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问题二 · 不越权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2067" y="2567849"/>
            <a:ext cx="291270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1EE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两步确认才发出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82067" y="3025049"/>
            <a:ext cx="2912703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发送前又读了一次群；发出 1 条后读回，在群里看到这条，才显示「已发到」。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2534" y="1892238"/>
            <a:ext cx="3386667" cy="2549922"/>
          </a:xfrm>
          <a:prstGeom prst="roundRect">
            <a:avLst>
              <a:gd name="adj" fmla="val 3984"/>
            </a:avLst>
          </a:prstGeom>
          <a:solidFill>
            <a:srgbClr val="1E2E26"/>
          </a:solidFill>
          <a:ln/>
        </p:spPr>
      </p:sp>
      <p:sp>
        <p:nvSpPr>
          <p:cNvPr id="15" name="Shape 13"/>
          <p:cNvSpPr/>
          <p:nvPr/>
        </p:nvSpPr>
        <p:spPr>
          <a:xfrm>
            <a:off x="7992534" y="1892238"/>
            <a:ext cx="3386667" cy="2549922"/>
          </a:xfrm>
          <a:custGeom>
            <a:avLst/>
            <a:gdLst/>
            <a:ahLst/>
            <a:cxnLst/>
            <a:rect l="l" t="t" r="r" b="b"/>
            <a:pathLst>
              <a:path w="3386667" h="2549922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67" y="0"/>
                </a:lnTo>
                <a:arcTo hR="101600" wR="101600" stAng="16200000" swAng="5400000"/>
                <a:lnTo>
                  <a:pt x="338666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3A2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1934" y="2209738"/>
            <a:ext cx="291270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问题三 · 能闭环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1934" y="2567849"/>
            <a:ext cx="291270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1EE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没有回复，就不猜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71934" y="3025049"/>
            <a:ext cx="2912703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看反响重读群聊后，如实显示「发出以后还没有新回复」，没有调用助手去编反应。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38440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真实运行记录 evidence/native-053/results.md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9199" y="6238280"/>
            <a:ext cx="220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实现与验证 · 测试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8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每改一次，全部重跑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95413"/>
            <a:ext cx="2520950" cy="2128044"/>
          </a:xfrm>
          <a:prstGeom prst="roundRect">
            <a:avLst>
              <a:gd name="adj" fmla="val 5819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233" y="2099667"/>
            <a:ext cx="2175806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67/67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20233" y="2790496"/>
            <a:ext cx="21758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界面场景运行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0233" y="3133396"/>
            <a:ext cx="217580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62 个场景，412×892 与 954×448 两种尺寸，宿主回复由场景注入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5675" y="1895413"/>
            <a:ext cx="2520950" cy="2128044"/>
          </a:xfrm>
          <a:prstGeom prst="roundRect">
            <a:avLst>
              <a:gd name="adj" fmla="val 5819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99933" y="2099667"/>
            <a:ext cx="2175806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12 套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99933" y="2790496"/>
            <a:ext cx="21758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逻辑测试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99933" y="3133396"/>
            <a:ext cx="21758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400 多项断言，在真实 card-host 虚拟机里直接跑生产函数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5375" y="1895413"/>
            <a:ext cx="2520950" cy="2128044"/>
          </a:xfrm>
          <a:prstGeom prst="roundRect">
            <a:avLst>
              <a:gd name="adj" fmla="val 5819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9633" y="2099667"/>
            <a:ext cx="2175806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4 种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379633" y="2790496"/>
            <a:ext cx="21758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授权状态实拍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79633" y="3133396"/>
            <a:ext cx="21758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未选房间、未允许、撤回、到期，在官方 Rinx 上拍摄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5075" y="1895413"/>
            <a:ext cx="2520950" cy="2128044"/>
          </a:xfrm>
          <a:prstGeom prst="roundRect">
            <a:avLst>
              <a:gd name="adj" fmla="val 5819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9334" y="2099667"/>
            <a:ext cx="2175806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 补丁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059334" y="2790496"/>
            <a:ext cx="21758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官方 Rinx 复验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59334" y="3133396"/>
            <a:ext cx="21758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Rinx c515e5fc 上跑通从读群到反响的完整闭环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4331432"/>
            <a:ext cx="10883392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适配最新 OctoSense：</a:t>
            </a:r>
            <a:r>
              <a:rPr lang="en-US" sz="15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测试用的 card-host 从 App Hub main 构建；按当前运行时单次回调的指令上限，把消息窗口比对从 O(n×m) 改成 O(n+m)。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60506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验证记录 oncue/VERIFICATION.md · 测试说明 oncue/tests/README.md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9199" y="6238280"/>
            <a:ext cx="220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实现与验证 · 回应初赛评审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8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初赛 82 分，评审的四条建议全部落实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79538"/>
          <a:ext cx="10553700" cy="2578034"/>
        </p:xfrm>
        <a:graphic>
          <a:graphicData uri="http://schemas.openxmlformats.org/drawingml/2006/table">
            <a:tbl>
              <a:tblPr/>
              <a:tblGrid>
                <a:gridCol w="4010406"/>
                <a:gridCol w="6543294"/>
              </a:tblGrid>
              <a:tr h="51560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评审建议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我们做了什么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B9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4"/>
                    </a:solidFill>
                  </a:tcPr>
                </a:tc>
              </a:tr>
              <a:tr h="51560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补「拒绝授权、授权到期」的验证记录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在官方 Rinx 上实拍四种授权状态；授权到期实测约 1 小时；界面场景兜底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  <a:tr h="51560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防编造扩展到中文数字和承诺句式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覆盖中文数字、半天、复合单位；承诺句式逐句检查，条件句只豁免条件部分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51560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应用包移到仓库根目录 bundle/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已移动，新的发布流程可以直接使用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  <a:tr h="51560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改用 GitHub 发布流程，提高版本号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发布工作流已就位；版本升到 0.5.3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34643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评审意见见 OctoSense App Hub issue #78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59199" y="6238280"/>
            <a:ext cx="220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29489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E3A23B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04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502689"/>
            <a:ext cx="10883392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1EEE4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我们的贡献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320518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一套任何 Splash 应用都能用的测试方法，和两份宿主问题复现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背景与问题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82932" y="6238280"/>
            <a:ext cx="9755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解决方案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665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实现与验证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70797" y="6238280"/>
            <a:ext cx="11717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我们的贡献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52042" y="6238280"/>
            <a:ext cx="13412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总结与下一步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我们的贡献 · 贡献一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8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把我们的测试方法，交给每个 Splash 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16038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splash-app-verify 测试技能：适用于任何 Splash 脚本应用，已向 OctoSense App Flow 提交 PR #192。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2333563"/>
            <a:ext cx="3210983" cy="2568773"/>
          </a:xfrm>
          <a:prstGeom prst="roundRect">
            <a:avLst>
              <a:gd name="adj" fmla="val 4820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5633" y="2563217"/>
            <a:ext cx="283421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8A5A1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痛点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8277" y="2939126"/>
            <a:ext cx="2753953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card-host 里没有真实的宿主服务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授权过期、限流、发送超时这些情况造不出来，失败路径没法复现</a:t>
            </a:r>
            <a:endParaRPr lang="en-US" sz="13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31733" y="3554413"/>
            <a:ext cx="254000" cy="127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90508" y="2333563"/>
            <a:ext cx="3210983" cy="2568773"/>
          </a:xfrm>
          <a:prstGeom prst="roundRect">
            <a:avLst>
              <a:gd name="adj" fmla="val 4820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20167" y="2563217"/>
            <a:ext cx="283421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做法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92811" y="2939126"/>
            <a:ext cx="2753953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先写界面契约和场景，再写代码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假宿主按场景回复，每条失败路径都能复现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每次修改后全量重跑；失败时写出 FEEDBACK.md，让模型或人逐条修</a:t>
            </a:r>
            <a:endParaRPr lang="en-US" sz="13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06267" y="3554413"/>
            <a:ext cx="254000" cy="127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165042" y="2333563"/>
            <a:ext cx="3210983" cy="2568773"/>
          </a:xfrm>
          <a:prstGeom prst="roundRect">
            <a:avLst>
              <a:gd name="adj" fmla="val 4820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394700" y="2563217"/>
            <a:ext cx="283421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效果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467344" y="2939126"/>
            <a:ext cx="2753953" cy="175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OnCue 交付前抓到 5 个真 bug，例如授权过期后按钮仍显示「已允许」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轮外部审查；24,000 份写坏的场景文件，0 次崩溃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附两个示例，并补了 Splash 空态语法文档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12800" y="6238280"/>
            <a:ext cx="4939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github.com/OctoSense-org/OctoSense-App-Flow/pull/192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159199" y="6238280"/>
            <a:ext cx="220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我们的贡献 · 贡献二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8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在真实宿主上找到问题，并给出复现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44613"/>
            <a:ext cx="5175250" cy="2460823"/>
          </a:xfrm>
          <a:prstGeom prst="roundRect">
            <a:avLst>
              <a:gd name="adj" fmla="val 5032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099667"/>
            <a:ext cx="480508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Rinx：导入表单读错房间号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1033" y="2488282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现象</a:t>
            </a: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　填了房间号，应用却以「没有房间」启动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1033" y="2869282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根因</a:t>
            </a: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　ids!(room) 先命中内置下拉框里同名的隐藏输入框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1033" y="3250282"/>
            <a:ext cx="480508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我们做了</a:t>
            </a: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　整理复现步骤和 4 处修复；上游 1.2.0 已修复同一问题，OnCue 改为直接运行在官方 Rinx 上，不再需要本地补丁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00775" y="1844613"/>
            <a:ext cx="5175250" cy="2460823"/>
          </a:xfrm>
          <a:prstGeom prst="roundRect">
            <a:avLst>
              <a:gd name="adj" fmla="val 5032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5833" y="2099667"/>
            <a:ext cx="480508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Palpo：密钥备份查询返回 404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55833" y="2488282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现象</a:t>
            </a: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　开了密钥备份的账号，在新房间邀请任何人都失败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55833" y="2869282"/>
            <a:ext cx="480508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根因</a:t>
            </a: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　规范要求返回 200 和空的 sessions，Palpo 返回 404 M_NOT_FOUND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55833" y="3516982"/>
            <a:ext cx="480508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我们做了</a:t>
            </a: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　沿 Rinx、matrix-sdk、Palpo 三处代码定位，最小复现写进验证记录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72093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材料 build/RINX-PR-room-binding.md · oncue/VERIFICATION.md「发现的宿主问题」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9199" y="6238280"/>
            <a:ext cx="220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总结与下一步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8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1EEE4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一页回顾：问题、方案、验证、贡献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9213"/>
            <a:ext cx="10566400" cy="0"/>
          </a:xfrm>
          <a:prstGeom prst="line">
            <a:avLst/>
          </a:prstGeom>
          <a:noFill/>
          <a:ln w="6350">
            <a:solidFill>
              <a:srgbClr val="3346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973337"/>
            <a:ext cx="6604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76400" y="1972667"/>
            <a:ext cx="999388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直接替人说话，会编造、会越权、发完就断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2413992"/>
            <a:ext cx="10566400" cy="0"/>
          </a:xfrm>
          <a:prstGeom prst="line">
            <a:avLst/>
          </a:prstGeom>
          <a:noFill/>
          <a:ln w="6350">
            <a:solidFill>
              <a:srgbClr val="3346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568116"/>
            <a:ext cx="6604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76400" y="2567459"/>
            <a:ext cx="999388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试映四阶段（读群、试映、上映、反响），加三道把关：助手写措辞，程序核对，人做决定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3008784"/>
            <a:ext cx="10566400" cy="0"/>
          </a:xfrm>
          <a:prstGeom prst="line">
            <a:avLst/>
          </a:prstGeom>
          <a:noFill/>
          <a:ln w="6350">
            <a:solidFill>
              <a:srgbClr val="3346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3162895"/>
            <a:ext cx="6604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76400" y="3162238"/>
            <a:ext cx="999388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真实模型上三道把关都起了作用；67 次界面场景运行、12 套逻辑测试全部通过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800" y="3603563"/>
            <a:ext cx="10566400" cy="0"/>
          </a:xfrm>
          <a:prstGeom prst="line">
            <a:avLst/>
          </a:prstGeom>
          <a:noFill/>
          <a:ln w="6350">
            <a:solidFill>
              <a:srgbClr val="3346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800" y="4196230"/>
            <a:ext cx="10566400" cy="0"/>
          </a:xfrm>
          <a:prstGeom prst="line">
            <a:avLst/>
          </a:prstGeom>
          <a:noFill/>
          <a:ln w="6350">
            <a:solidFill>
              <a:srgbClr val="3346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800" y="3757687"/>
            <a:ext cx="6604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贡献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76400" y="3757017"/>
            <a:ext cx="999388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测试技能 PR #192，任何 Splash 应用都能用；Rinx、Palpo 两份宿主问题复现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2800" y="4428009"/>
            <a:ext cx="5181600" cy="1206500"/>
          </a:xfrm>
          <a:prstGeom prst="roundRect">
            <a:avLst>
              <a:gd name="adj" fmla="val 8421"/>
            </a:avLst>
          </a:prstGeom>
          <a:solidFill>
            <a:srgbClr val="1E2E26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4631209"/>
            <a:ext cx="49184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88644" y="4936009"/>
            <a:ext cx="483819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在最新 Rinx 1.3.0 上复验，打 tag 走 GitHub 发布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更新 App Hub 提交；PR #192 等待维护者审阅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97600" y="4428009"/>
            <a:ext cx="5181600" cy="1206500"/>
          </a:xfrm>
          <a:prstGeom prst="roundRect">
            <a:avLst>
              <a:gd name="adj" fmla="val 8421"/>
            </a:avLst>
          </a:prstGeom>
          <a:solidFill>
            <a:srgbClr val="1E2E2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631209"/>
            <a:ext cx="49184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还没验证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73444" y="4936009"/>
            <a:ext cx="483819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第二个真人账号实时回复的现场演示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macOS、Windows、手机；从应用商店安装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51056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源码 github.com/codezzzsleep/OnCue · 演示录屏 [链接待补]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59199" y="6238280"/>
            <a:ext cx="220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Cue 复赛说明">
  <a:themeElements>
    <a:clrScheme name="OnCue 复赛说明">
      <a:dk1>
        <a:srgbClr val="1B2420"/>
      </a:dk1>
      <a:lt1>
        <a:srgbClr val="F4F1E8"/>
      </a:lt1>
      <a:dk2>
        <a:srgbClr val="515752"/>
      </a:dk2>
      <a:lt2>
        <a:srgbClr val="DEDDD4"/>
      </a:lt2>
      <a:accent1>
        <a:srgbClr val="1F6B4A"/>
      </a:accent1>
      <a:accent2>
        <a:srgbClr val="E3A23B"/>
      </a:accent2>
      <a:accent3>
        <a:srgbClr val="8FD3AE"/>
      </a:accent3>
      <a:accent4>
        <a:srgbClr val="8A5A12"/>
      </a:accent4>
      <a:accent5>
        <a:srgbClr val="46524C"/>
      </a:accent5>
      <a:accent6>
        <a:srgbClr val="6B756F"/>
      </a:accent6>
      <a:hlink>
        <a:srgbClr val="0563C1"/>
      </a:hlink>
      <a:folHlink>
        <a:srgbClr val="954F72"/>
      </a:folHlink>
    </a:clrScheme>
    <a:fontScheme name="OnCue 复赛说明">
      <a:majorFont>
        <a:latin typeface="Noto Serif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OnCue 复赛说明</dc:title>
  <dc:subject/>
  <dc:creator/>
  <cp:lastModifiedBy/>
  <cp:revision>1</cp:revision>
  <dcterms:created xsi:type="dcterms:W3CDTF">2026-10-11T17:54:01Z</dcterms:created>
  <dcterms:modified xsi:type="dcterms:W3CDTF">2026-10-11T17:54:01Z</dcterms:modified>
</cp:coreProperties>
</file>